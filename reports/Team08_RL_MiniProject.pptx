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430" r:id="rId3"/>
    <p:sldId id="445" r:id="rId4"/>
    <p:sldId id="444" r:id="rId5"/>
    <p:sldId id="443" r:id="rId6"/>
    <p:sldId id="442" r:id="rId7"/>
    <p:sldId id="441" r:id="rId8"/>
    <p:sldId id="440" r:id="rId9"/>
    <p:sldId id="439" r:id="rId10"/>
    <p:sldId id="438" r:id="rId11"/>
    <p:sldId id="437" r:id="rId12"/>
    <p:sldId id="436" r:id="rId13"/>
    <p:sldId id="435" r:id="rId14"/>
    <p:sldId id="434" r:id="rId15"/>
    <p:sldId id="433" r:id="rId16"/>
    <p:sldId id="432" r:id="rId17"/>
    <p:sldId id="431" r:id="rId18"/>
    <p:sldId id="261" r:id="rId1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smGckoBzwjZKne9HFUle81Rj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16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B2F8D-A392-4628-9906-8F5D8A7BF92F}" v="2" dt="2026-09-28T08:22:51.838"/>
  </p1510:revLst>
</p1510:revInfo>
</file>

<file path=ppt/tableStyles.xml><?xml version="1.0" encoding="utf-8"?>
<a:tblStyleLst xmlns:a="http://schemas.openxmlformats.org/drawingml/2006/main" def="{1EAB2D85-9B6F-43F3-A185-701A91043BBF}">
  <a:tblStyle styleId="{1EAB2D85-9B6F-43F3-A185-701A91043B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NNA LEEKHITH SRI KRISHNA-[BL.EN.U4AIE23060]" userId="4f2a6e44-6bf4-4d4a-ab81-df8c3a72ebf9" providerId="ADAL" clId="{4056677F-CB4D-4659-8800-44F0D00BECA8}"/>
    <pc:docChg chg="undo redo custSel addSld delSld modSld sldOrd">
      <pc:chgData name="NUNNA LEEKHITH SRI KRISHNA-[BL.EN.U4AIE23060]" userId="4f2a6e44-6bf4-4d4a-ab81-df8c3a72ebf9" providerId="ADAL" clId="{4056677F-CB4D-4659-8800-44F0D00BECA8}" dt="2026-09-28T08:22:51.871" v="3797"/>
      <pc:docMkLst>
        <pc:docMk/>
      </pc:docMkLst>
      <pc:sldChg chg="addSp modSp mod modNotesTx">
        <pc:chgData name="NUNNA LEEKHITH SRI KRISHNA-[BL.EN.U4AIE23060]" userId="4f2a6e44-6bf4-4d4a-ab81-df8c3a72ebf9" providerId="ADAL" clId="{4056677F-CB4D-4659-8800-44F0D00BECA8}" dt="2026-09-28T08:22:51.871" v="3797"/>
        <pc:sldMkLst>
          <pc:docMk/>
          <pc:sldMk cId="0" sldId="256"/>
        </pc:sldMkLst>
        <pc:spChg chg="mod">
          <ac:chgData name="NUNNA LEEKHITH SRI KRISHNA-[BL.EN.U4AIE23060]" userId="4f2a6e44-6bf4-4d4a-ab81-df8c3a72ebf9" providerId="ADAL" clId="{4056677F-CB4D-4659-8800-44F0D00BECA8}" dt="2026-09-28T08:22:51.871" v="3797"/>
          <ac:spMkLst>
            <pc:docMk/>
            <pc:sldMk cId="0" sldId="256"/>
            <ac:spMk id="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Introduce the team and the project: a UAV that decides where to look next using its own detection uncertainty.</a:t>
            </a:r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gap: perception is good, but flight planning ignores it. Our agents close that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sequential decisions and delayed reward: these are what make it an RL problem rather than a vision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detector is supervised learning; the flight policy is RL. The raster scan is our rule-based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loop for all three agents; they differ in state, action and reward, and in time scale (C acts over options).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loop left to right. Mention the four environment modes: navigate, refine, supervise,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Examples are real values printed by our demo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action types in one project: discrete, continuous, and options. This is why we chose three different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first reward (separate coverage and uncertainty terms) was hacked: the agent collected reward without finishing. Rewarding total uncertainty reduction plus a battery-scaled success bonus fixed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algorithm is chosen by action type. Stable-Baselines3 implementations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exactly the objectives optimised by the SB3 implementations with our 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on GitHub; large files (models, cache) live in Google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notebook Step 11 live: it prints state, Q-values, chosen action, reward and next state. Replace numbers with your live run if they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from our own Colab run (notebook Steps 5 and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honest about the preliminary numbers; the Agent A numbers are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limitation maps to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mapping evidence to CO1–CO3. Part II will add CO4–CO5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31A2139-3F41-43D8-8F8D-6159DB5D8791}" type="datetime1">
              <a:rPr lang="en-US" smtClean="0"/>
              <a:t>9/28/2026</a:t>
            </a:fld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66A1A4A-BA61-471D-A49D-C55F61584163}" type="datetime1">
              <a:rPr lang="en-US" smtClean="0"/>
              <a:t>9/28/2026</a:t>
            </a:fld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fld id="{6EF930A3-065E-4B6C-9655-F1B97ABB743B}" type="datetime1">
              <a:rPr lang="en-US" smtClean="0"/>
              <a:t>9/28/2026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0" y="0"/>
            <a:ext cx="12192000" cy="6377940"/>
            <a:chOff x="0" y="0"/>
            <a:chExt cx="12192000" cy="6377940"/>
          </a:xfrm>
        </p:grpSpPr>
        <p:sp>
          <p:nvSpPr>
            <p:cNvPr id="52" name="Google Shape;52;p1"/>
            <p:cNvSpPr/>
            <p:nvPr/>
          </p:nvSpPr>
          <p:spPr>
            <a:xfrm>
              <a:off x="0" y="0"/>
              <a:ext cx="12192000" cy="6377940"/>
            </a:xfrm>
            <a:custGeom>
              <a:avLst/>
              <a:gdLst/>
              <a:ahLst/>
              <a:cxnLst/>
              <a:rect l="l" t="t" r="r" b="b"/>
              <a:pathLst>
                <a:path w="12192000" h="6377940" extrusionOk="0">
                  <a:moveTo>
                    <a:pt x="0" y="6377940"/>
                  </a:moveTo>
                  <a:lnTo>
                    <a:pt x="12191746" y="6377940"/>
                  </a:lnTo>
                  <a:lnTo>
                    <a:pt x="12191746" y="0"/>
                  </a:lnTo>
                  <a:lnTo>
                    <a:pt x="0" y="0"/>
                  </a:lnTo>
                  <a:lnTo>
                    <a:pt x="0" y="6377940"/>
                  </a:lnTo>
                  <a:close/>
                </a:path>
              </a:pathLst>
            </a:custGeom>
            <a:solidFill>
              <a:srgbClr val="B8114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54147" y="1716023"/>
              <a:ext cx="3451733" cy="1104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6405880" y="502158"/>
            <a:ext cx="539115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FFFFFF"/>
                </a:solidFill>
              </a:rPr>
              <a:t>22AIE401 Reinforcement Learning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419100" y="280415"/>
            <a:ext cx="6134100" cy="5646305"/>
            <a:chOff x="419100" y="280415"/>
            <a:chExt cx="6134100" cy="5646305"/>
          </a:xfrm>
        </p:grpSpPr>
        <p:sp>
          <p:nvSpPr>
            <p:cNvPr id="56" name="Google Shape;56;p1"/>
            <p:cNvSpPr/>
            <p:nvPr/>
          </p:nvSpPr>
          <p:spPr>
            <a:xfrm>
              <a:off x="6553200" y="1871471"/>
              <a:ext cx="0" cy="1637030"/>
            </a:xfrm>
            <a:custGeom>
              <a:avLst/>
              <a:gdLst/>
              <a:ahLst/>
              <a:cxnLst/>
              <a:rect l="l" t="t" r="r" b="b"/>
              <a:pathLst>
                <a:path w="120000" h="1637029" extrusionOk="0">
                  <a:moveTo>
                    <a:pt x="0" y="0"/>
                  </a:moveTo>
                  <a:lnTo>
                    <a:pt x="0" y="1636776"/>
                  </a:lnTo>
                </a:path>
              </a:pathLst>
            </a:cu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9100" y="280415"/>
              <a:ext cx="2639568" cy="2639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>
            <a:blip r:embed="rId5"/>
            <a:srcRect/>
            <a:stretch/>
          </p:blipFill>
          <p:spPr>
            <a:xfrm>
              <a:off x="1273629" y="3567025"/>
              <a:ext cx="4332514" cy="23596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"/>
          <p:cNvSpPr txBox="1"/>
          <p:nvPr/>
        </p:nvSpPr>
        <p:spPr>
          <a:xfrm>
            <a:off x="6700521" y="1534561"/>
            <a:ext cx="5015854" cy="259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Uncertainty-Aware Active Vision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for UAV-Based Infrastructure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Inspection Using Deep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</a:p>
        </p:txBody>
      </p:sp>
      <p:sp>
        <p:nvSpPr>
          <p:cNvPr id="60" name="Google Shape;60;p1"/>
          <p:cNvSpPr txBox="1"/>
          <p:nvPr/>
        </p:nvSpPr>
        <p:spPr>
          <a:xfrm>
            <a:off x="7162800" y="4160520"/>
            <a:ext cx="4836412" cy="1951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S. G. Yeseswini (BL.EN.U4AIE23013)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Leekhith Sri Krishna (BL.EN.U4AIE23060)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Mukhesh V (BL.EN.U4AIE23036)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– 08  |  Faculty: Dr. Amudha J.  |  AY 2026–27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 and Engineering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Amrita School of Computing, Bengaluru</a:t>
            </a:r>
          </a:p>
        </p:txBody>
      </p:sp>
      <p:sp>
        <p:nvSpPr>
          <p:cNvPr id="61" name="Google Shape;61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7064FEA-BC33-489E-8092-C84637123CCE}" type="datetime1">
              <a:rPr lang="en-US" smtClean="0"/>
              <a:t>9/28/2026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Team – 08</a:t>
            </a:r>
            <a:endParaRPr/>
          </a:p>
        </p:txBody>
      </p:sp>
      <p:sp>
        <p:nvSpPr>
          <p:cNvPr id="63" name="Google Shape;63;p1"/>
          <p:cNvSpPr txBox="1"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367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84048" y="914400"/>
            <a:ext cx="1133856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991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09728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UAV inspection systems detect and segment cracks well, but they do not decide where to look next. They fly a fixed raster path and process every region equally, so inspections are slow, battery-hungry and cannot return for a better view of an uncertain region.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991245"/>
                </a:solidFill>
                <a:latin typeface="Times New Roman"/>
              </a:rPr>
              <a:t>Question: </a:t>
            </a:r>
            <a:r>
              <a:rPr sz="1700" b="0" i="0">
                <a:solidFill>
                  <a:srgbClr val="991245"/>
                </a:solidFill>
                <a:latin typeface="Times New Roman"/>
              </a:rPr>
              <a:t>how can a UAV use its own detection uncertainty to choose the next viewpoint, so it inspects the whole structure in less time and with less energy than passive scanning?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788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2898648"/>
            <a:ext cx="333756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Objective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Full coverage of the bridge surface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Low residual detection uncertainty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Fewer steps and less battery than a raster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788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898648"/>
            <a:ext cx="333756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Environment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Bridge surface: 8 × 16 grid, 20% hidden defects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UAV with 3 altitudes and a camera footprint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Crack detector reporting per-cell uncertainty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Limited battery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78892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2898648"/>
            <a:ext cx="342900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Decisions to be made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Where to fly next and at which altitude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How to position the camera on an uncertain crack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When to explore, refine or return home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Why Reinforcement Learning?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978408"/>
            <a:ext cx="6035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Interaction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Each flight move changes what the camera sees and therefore the next state.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75688"/>
            <a:ext cx="658368" cy="658368"/>
          </a:xfrm>
          <a:prstGeom prst="ellipse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02536"/>
            <a:ext cx="6035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Sequential decisions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 mission is 80–200 dependent moves; early choices constrain later ones.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099816"/>
            <a:ext cx="658368" cy="658368"/>
          </a:xfrm>
          <a:prstGeom prst="ellipse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09981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26664"/>
            <a:ext cx="6035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Actions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Move, climb/descend, adjust camera pose, or choose to refine / return.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123944"/>
            <a:ext cx="658368" cy="658368"/>
          </a:xfrm>
          <a:prstGeom prst="ellipse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0791"/>
            <a:ext cx="6035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Delayed reward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Whether a path was good is known only when the inspection completes.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148072"/>
            <a:ext cx="658368" cy="658368"/>
          </a:xfrm>
          <a:prstGeom prst="ellipse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1480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74920"/>
            <a:ext cx="6035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No labels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There is no dataset of 'correct' flight paths to imitate, only outcomes to optimise.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188720"/>
            <a:ext cx="3931920" cy="457200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1325880"/>
            <a:ext cx="3520440" cy="4389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C00000"/>
                </a:solidFill>
                <a:latin typeface="Times New Roman"/>
              </a:rPr>
              <a:t>Why RL fits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The goal is a policy that maximises the expected cumulative return: coverage and uncertainty reduction minus time and energy.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The UAV sees only its camera footprint, so inspection is a POMDP, solved as an MDP over an observation-based state.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91245"/>
                </a:solidFill>
                <a:latin typeface="Times New Roman"/>
              </a:rPr>
              <a:t>Supervised learning can only predict; RL learns to act.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RL vs Other Approaches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005840"/>
          <a:ext cx="11338560" cy="3968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Supervised / non-interactive ML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Fixed rule (raster scan)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Reinforcement Learning (ours)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Learning signal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Labels / targets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None (hand-designed)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Reward and return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Interaction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No action–environment loop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Open-loop path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Agent acts and observes consequences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Output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Prediction (crack mask)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Pre-computed waypoints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Action selection (next viewpoint)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Temporal structure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Independent samples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Fixed order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Sequential, delayed consequences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Minimise prediction loss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Cover everything uniformly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Maximise expected cumulative return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F1F1F"/>
                          </a:solidFill>
                          <a:latin typeface="Times New Roman"/>
                        </a:rPr>
                        <a:t>Uses uncertainty?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Produces it, but doesn't act on it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F1F1F"/>
                          </a:solidFill>
                          <a:latin typeface="Times New Roman"/>
                        </a:rPr>
                        <a:t>Yes: it is part of the state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257800"/>
            <a:ext cx="11338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91245"/>
                </a:solidFill>
                <a:latin typeface="Times New Roman"/>
              </a:rPr>
              <a:t>Our design uses both: </a:t>
            </a:r>
            <a:r>
              <a:rPr sz="1600" b="0" i="0">
                <a:solidFill>
                  <a:srgbClr val="991245"/>
                </a:solidFill>
                <a:latin typeface="Times New Roman"/>
              </a:rPr>
              <a:t>a supervised U-Net (DeepCrack) provides the uncertainty, and RL agents decide how to act on it.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Agent–Environment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005840"/>
          <a:ext cx="6309360" cy="460857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 our project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Agents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A: navigation (DQN) · B: view refinement (PPO) · C: mission supervisor (A2C)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Environment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Shared Gymnasium simulator: bridge grid, UAV pose, camera, detector, battery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Observation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Coverage map, uncertainty map, pose, battery (hidden: true defect map)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Actions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A: 6 discrete moves · B: 3 continuous pose changes · C: 3 options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Rewards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Uncertainty reduced, defects confirmed, success bonus; step / energy penalties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Episode end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Inspection complete, return home, battery empty or step limit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188720"/>
            <a:ext cx="2926080" cy="91440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18872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RL Agent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policy π(a | 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206240"/>
            <a:ext cx="2926080" cy="91440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20624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Environment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bridge · UAV · detector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24160" y="2103120"/>
            <a:ext cx="0" cy="210312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0" y="2926080"/>
            <a:ext cx="1463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91245"/>
                </a:solidFill>
                <a:latin typeface="Times New Roman"/>
              </a:rPr>
              <a:t>action a(t)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29600" y="2103120"/>
            <a:ext cx="0" cy="21031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0" y="2743200"/>
            <a:ext cx="1554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595959"/>
                </a:solidFill>
                <a:latin typeface="Times New Roman"/>
              </a:rPr>
              <a:t>state s(t+1)</a:t>
            </a:r>
          </a:p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595959"/>
                </a:solidFill>
                <a:latin typeface="Times New Roman"/>
              </a:rPr>
              <a:t>reward r(t)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349240"/>
            <a:ext cx="4206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Loop repeats every step until the episode ends.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2286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Camera view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footprint by altitude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143000"/>
            <a:ext cx="2468880" cy="91440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143000"/>
            <a:ext cx="24688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Crack detector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U-Net + MC-dropout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468880" cy="91440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143000"/>
            <a:ext cx="24688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State builder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coverage · uncertainty · pose · battery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143000"/>
            <a:ext cx="2971800" cy="91440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1143000"/>
            <a:ext cx="29718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Agent C: Supervisor (A2C)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explore / refine / return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1600200"/>
            <a:ext cx="3657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2120" y="1600200"/>
            <a:ext cx="3657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6760" y="1600200"/>
            <a:ext cx="3657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23760" y="288036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880360"/>
            <a:ext cx="23774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Agent A (DQN)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where to fly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880360"/>
            <a:ext cx="1874519" cy="91440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9800" y="2880360"/>
            <a:ext cx="1874519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Agent B (PPO)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how to view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412480" y="2057400"/>
            <a:ext cx="1280160" cy="82296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7040" y="2057400"/>
            <a:ext cx="137160" cy="82296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2440" y="224028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991245"/>
                </a:solidFill>
                <a:latin typeface="Times New Roman"/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224028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991245"/>
                </a:solidFill>
                <a:latin typeface="Times New Roman"/>
              </a:rPr>
              <a:t>Refine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434840"/>
            <a:ext cx="4480560" cy="91440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4434840"/>
            <a:ext cx="44805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Environment update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move UAV / camera · update maps · battery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3794760"/>
            <a:ext cx="0" cy="64008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44200" y="3794760"/>
            <a:ext cx="0" cy="64008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63240" y="4434840"/>
            <a:ext cx="3566160" cy="91440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3240" y="4434840"/>
            <a:ext cx="3566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Reward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uncertainty ↓ · defects ✓ · energy / time costs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629400" y="4892040"/>
            <a:ext cx="5943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554480" y="4892040"/>
            <a:ext cx="15087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554480" y="2057400"/>
            <a:ext cx="0" cy="28346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1480" y="3108960"/>
            <a:ext cx="1097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next state + reward →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623560"/>
            <a:ext cx="11338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Flow: observation → state → RL agent → action → environment → reward, repeated each step. Each agent can be trained alone against scripted stand-ins for the others.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State Space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11338560" cy="3840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State variables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Representation / range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 – Navigation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7×7 local visited + 7×7 local uncertainty, 2×4 block coverage + block uncertainty, row, column, altitude, battery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118 values in [0, 1]; egocentric window, cells outside bridge = visited, u =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Start: coverage 0.07, mean u 0.97, altitude high, battery 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B – Refinement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Distance, view angle, lateral offset, target uncertainty, battery, time left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 values; d ∈ [0,1], angle and offset ∈ [−1,1], others ∈ [0,1]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[0.83, −0.28, 0.13, 0.31, 1.00, 1.00]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 – Supervisor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Battery, coverage, mean uncertainty, fraction of defects found, distance to base, time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 values in [0, 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[0.97, 0.12, 0.93, 0.15, 0.18, 0.02]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983480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047488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Times New Roman"/>
              </a:rPr>
              <a:t>Why egocentric for Agent A?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Our first design used a global one-hot position (386 inputs) and reached 0% success. Features relative to the drone let the network reuse the same spatial rule everywhere.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Times New Roman"/>
              </a:rPr>
              <a:t>Observation vs state: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the true defect map is hidden, so the state is built from what has been observed (POMDP).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Action Space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338328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Agent A – Discrete(6)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N / S / E / W: move one cell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Climb: higher altitude, wider 5×5 view, coarser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Descend: lower altitude, 1×1 sharp view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Altitude → footprint → view quality: high 5×5 (q1), mid 3×3 (q2), low 1×1 (q3)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069848"/>
            <a:ext cx="338328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Agent B – Continuous, 3-D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Δ distance to the target cell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Δ viewing angle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Δ lateral offset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Each ∈ [−1, 1], scaled × 0.2 per step, so the drone must approach gradually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Best view q4 is reachable only through refinement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0456" y="1069848"/>
            <a:ext cx="338328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Agent C – Options (semi-MDP)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Explore: run Agent A for 5 steps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Refine: run Agent B (≤ 10 steps) on the most uncertain cell in view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Return home: fly back, mission ends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One decision spans many low-level steps (temporal abstraction)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Reward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0515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Agent A (navigation)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554480"/>
            <a:ext cx="3383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600200"/>
            <a:ext cx="3255264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r = 0.2·ΔU − 0.01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  − 0.05·[revisit]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  − 1·[out of bounds]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success: +10 + 20·battery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200400"/>
            <a:ext cx="338328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+ ΔU: total uncertainty removed (unseen cell = 1)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− step cost: be fast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− revisit: don't hover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+ battery-scaled bonus: finish cheaply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10515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Agent B (refinement)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554480"/>
            <a:ext cx="3383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600200"/>
            <a:ext cx="3255264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r = Δu − 0.01·‖a‖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  + 0.5·(γ·s′ − s)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best view: +5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timeout:   −2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200400"/>
            <a:ext cx="338328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+ Δu: uncertainty reduced on target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− ‖a‖: smooth, efficient motion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Shaping on view quality s is potential-based: speeds learning, same optimal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96012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6" y="10515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Agent C (supervisor)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1554480"/>
            <a:ext cx="3383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1600200"/>
            <a:ext cx="3255264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r = +2·(new defects)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  − 0.5·energy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battery empty: 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200400"/>
            <a:ext cx="338328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+ defects confirmed: mission value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− energy: every option costs battery</a:t>
            </a:r>
          </a:p>
          <a:p>
            <a:pPr marL="228600" indent="-18288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− crash penalty: always return safely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Algorithm Selection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1133856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Why it fits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Exploration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A – Navigation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DQN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Discrete 6 actions; off-policy replay reuses experience (sample-efficient); target network stabilises learning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ε-greedy, 1.0 → 0.05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B – Refinement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PPO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Continuous 3-D actions (DQN cannot handle them); clipped updates are stable; Gaussian policy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Learned σ + entropy bonus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C – Supervisor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A2C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Only 3 options and a small state; cheap on-policy actor-critic; parallel environments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Softmax policy + entropy bonus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846320"/>
            <a:ext cx="11338560" cy="12344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919472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Considered and rejected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Tabular Q-learning: state space far too large (118 continuous features).  Single PPO for everything: mixes discrete, continuous and long-horizon decisions in one policy, and gives the team one component instead of three.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Core Equations Used in the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210312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DQN (Agent 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24712"/>
            <a:ext cx="576072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557784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y = r + γ · maxₐ′ Q_θ⁻(s′, a′)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L(θ) = ( y − Q_θ(s, a) )²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051560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θ⁻ = target network, updated every 1000 steps. Transitions sampled from a 100k replay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69748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10312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PPO (Agent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862072"/>
            <a:ext cx="576072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880360"/>
            <a:ext cx="557784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ρₜ = π_θ(aₜ|sₜ) / π_old(aₜ|sₜ)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L = E[min(ρₜÂₜ, clip(ρₜ,1−ε,1+ε)Âₜ)]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788920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ε = 0.2 clip range; advantages Âₜ from GAE (λ = 0.95); rollouts of 256 steps × 4 envs.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43484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79"/>
            <a:ext cx="210312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A2C (Agent 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599431"/>
            <a:ext cx="576072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4617720"/>
            <a:ext cx="557784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A = r + γ·V(s′) − V(s)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∇J = E[ ∇log π(a|s) · A ] + β·∇H(π)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526279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β = entropy coefficient (0.01) keeps option choices exploratory.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5669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Software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17320"/>
            <a:ext cx="5669280" cy="7772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991245"/>
                </a:solidFill>
                <a:latin typeface="Courier New"/>
              </a:rPr>
              <a:t>env/inspection_env.py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shared env: 4 modes, analytic + real-image detector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313432"/>
            <a:ext cx="5669280" cy="7772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5486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991245"/>
                </a:solidFill>
                <a:latin typeface="Courier New"/>
              </a:rPr>
              <a:t>env/baselines.py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raster, orbit, rule, random + evaluate()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09544"/>
            <a:ext cx="5669280" cy="7772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5486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991245"/>
                </a:solidFill>
                <a:latin typeface="Courier New"/>
              </a:rPr>
              <a:t>build_detector_cache.py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DeepCrack → U-Net → MC-dropout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105656"/>
            <a:ext cx="5669280" cy="7772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6"/>
            <a:ext cx="5486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991245"/>
                </a:solidFill>
                <a:latin typeface="Courier New"/>
              </a:rPr>
              <a:t>train_agent_a / b / c.py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DQN / PPO / A2C training +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001768"/>
            <a:ext cx="5669280" cy="7772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47488"/>
            <a:ext cx="5486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991245"/>
                </a:solidFill>
                <a:latin typeface="Courier New"/>
              </a:rPr>
              <a:t>run_full_mode.py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all 3 agents together + ablation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09360" y="960120"/>
          <a:ext cx="5440680" cy="42428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Hyper-parameter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A: DQN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B: PPO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C: A2C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5e-4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3e-4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7e-4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Discount γ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Network (MLP)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256-256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64-64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64-64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Batch / rollout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128 / –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64 / 256×4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– / 8×4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Buffer / 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100k / 1000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Exploration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ε 1.0→0.05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clip 0.2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entropy 0.01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200k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100k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100k decisions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09360" y="5349240"/>
            <a:ext cx="5440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Stack: Python · Gymnasium · Stable-Baselines3 · Google Colab. Data flow: env.reset() → policy(obs) → env.step(action) → (obs, reward, done, info) → SB3 update; models and logs saved to Google Drive.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Demo: One State → Action → Reward → Next-State Cycle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11338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Agent A (trained DQN), fixed bridge seed: one decision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417320"/>
            <a:ext cx="242316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91245"/>
                </a:solidFill>
                <a:latin typeface="Times New Roman"/>
              </a:rPr>
              <a:t>State sₜ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U54.........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544.........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775.........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alt high  bat 1.00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coverage 0.07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8376" y="2377440"/>
            <a:ext cx="265176" cy="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2316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91245"/>
                </a:solidFill>
                <a:latin typeface="Times New Roman"/>
              </a:rPr>
              <a:t>Q-values → action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E     17.00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S     16.87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Desc  16.96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Climb 15.93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argmax → East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16168" y="2377440"/>
            <a:ext cx="265176" cy="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9632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417320"/>
            <a:ext cx="242316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91245"/>
                </a:solidFill>
                <a:latin typeface="Times New Roman"/>
              </a:rPr>
              <a:t>Reward rₜ = +0.300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new cells seen (ΔU)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minus step cost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next step: Descend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→ reward +0.219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2377440"/>
            <a:ext cx="265176" cy="0"/>
          </a:xfrm>
          <a:prstGeom prst="line">
            <a:avLst/>
          </a:prstGeom>
          <a:ln w="22225">
            <a:solidFill>
              <a:srgbClr val="9912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07424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98864" y="1417320"/>
            <a:ext cx="242316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91245"/>
                </a:solidFill>
                <a:latin typeface="Times New Roman"/>
              </a:rPr>
              <a:t>Next state sₜ₊₁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7U44........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5444........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7755........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alt high  bat 0.99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coverage 0.09</a:t>
            </a:r>
          </a:p>
        </p:txBody>
      </p:sp>
      <p:pic>
        <p:nvPicPr>
          <p:cNvPr id="19" name="Picture 18" descr="trajectorie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11880"/>
            <a:ext cx="7520940" cy="2148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46720" y="3611880"/>
            <a:ext cx="370332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Full episode on one bridge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DQN (left) sweeps mostly at mid altitude and descends only where needed; the raster (right) flies low over every cell.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Times New Roman"/>
              </a:rPr>
              <a:t>U = drone, . = unseen, digit = uncertainty × 10; × = true defect. Path figure from our verification run.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Results: Agent A (DQN) vs Raster Baselines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585216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(20 seeded bridges)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Raster mid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Raster low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DQN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Success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Steps (time)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199.0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123.0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87.5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Energy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0.463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Coverage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0.953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Defects found (/26)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23.5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mIoU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0.626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0.539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6.20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35.43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35.81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96012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16459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991245"/>
                </a:solidFill>
                <a:latin typeface="Times New Roman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783080"/>
            <a:ext cx="149961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96012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005840"/>
            <a:ext cx="16459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991245"/>
                </a:solidFill>
                <a:latin typeface="Times New Roman"/>
              </a:rPr>
              <a:t>−29%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83080"/>
            <a:ext cx="149961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steps vs dense raster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96012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005840"/>
            <a:ext cx="16459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991245"/>
                </a:solidFill>
                <a:latin typeface="Times New Roman"/>
              </a:rPr>
              <a:t>−26%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1783080"/>
            <a:ext cx="149961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energy vs dense raster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5257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Analytic detector · 200k steps · 10.2 min on Colab CPU. Same success as the dense raster with far less time and energy; lower mIoU is the trade-off (see Analysis).</a:t>
            </a:r>
          </a:p>
        </p:txBody>
      </p:sp>
      <p:pic>
        <p:nvPicPr>
          <p:cNvPr id="18" name="Picture 17" descr="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069080"/>
            <a:ext cx="8088558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1080" y="4206240"/>
            <a:ext cx="310896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Learning curves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Episode return, success rate and episode length vs training episode (rolling mean of 50). Return reaches the dense-raster line (dashed) and success reaches 1.0.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76072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48640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Agent A learning behaviour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0–60k steps: mostly exploration (ε 1.0 → 0.05); return rises from −25 to about +15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60k–140k: the big jump happens after exploration ends; success → 100% by ~episode 750, episode length 160 → ~90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140k–200k: training return plateaus ≈ 34 → convergence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Evaluation reward oscillates (36.2 → 14.0 → 30.4): DQN's moving-target instability; best checkpoint kept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Trade-off: agent inspects just enough to meet the uncertainty target → lower mIoU than dense raster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960120"/>
            <a:ext cx="5394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Team components: preliminary verification runs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417320"/>
          <a:ext cx="5394960" cy="39502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B: PPO refiner (60k)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100% success in 3.7 steps; orbit 0%, random 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C: A2C supervisor (40k)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Return 41.1 vs 42.8 (rule) at half the energy (0.45 vs 0.95)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All 3 learned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Energy 0.49 vs 0.95 (scripted); defects 20.6 vs 22.6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Real-image detector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IoU on defects 0.23 → 0.72 as view improves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 on real images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15–20% success so far; weaker, noisier signal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5486400"/>
            <a:ext cx="5394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Final numbers for B, C and integration come from each owner's full runs.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Limitations and Future 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57784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30352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Current limitations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2D grid abstraction: no wind, collisions or 3D geometry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Vanilla DQN: late-training evaluation instability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Agent C trained with scripted sub-agents → distribution shift when learned agents are plugged in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Real-image uncertainty gives a weaker, noisier reward; learning needs many more samples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Single training seed per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960120"/>
            <a:ext cx="557784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069848"/>
            <a:ext cx="5303520" cy="4937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00000"/>
                </a:solidFill>
                <a:latin typeface="Times New Roman"/>
              </a:rPr>
              <a:t>Realistic improvements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Part II: convergence, regret and sample-efficiency analysis (CO4)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ε / entropy / clip-range sensitivity studies (CO5)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Retrain Agent C with the learned Agent A inside Explore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Multiple seeds with confidence intervals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Double / Dueling DQN; curriculum from analytic to real detector</a:t>
            </a:r>
          </a:p>
          <a:p>
            <a:pPr marL="228600" indent="-182880" algn="l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3D simulator (AirSim) for sim-to-real transfer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113385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We built a shared Gymnasium environment, formulated UAV inspection as three cooperating RL agents (DQN navigation, PPO view refinement, A2C mission supervision) and a real-image uncertainty detector. Agent A matches dense raster scanning's 100% success with 29% fewer steps and 26% less energy.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2331720"/>
          <a:ext cx="11338560" cy="3108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Course outcome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 in this project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Slides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CO1 – RL vs AI / non-interactive 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Sequential, interactive, delayed-reward problem; comparison with supervised ML and fixed raster scanning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2–5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CO2 – Formulate as RL, choose algorithm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MDP for each agent (state, action, reward, dynamics); DQN / PPO / A2C justified by action type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6–11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CO3 – Implement RL algorithms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Working SB3 implementation, live state → action → reward demo, learning curves, results vs baselines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12–15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532120"/>
            <a:ext cx="11338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AI tools (Claude) were used for planning and code assistance; acknowledged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609600" y="1785174"/>
            <a:ext cx="1053737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5400" dirty="0"/>
              <a:t>Thank you !!</a:t>
            </a:r>
            <a:br>
              <a:rPr lang="en-IN" sz="5400" dirty="0"/>
            </a:br>
            <a:endParaRPr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C13008C-A8C5-452B-BA83-21975F4CBFDB}" type="datetime1">
              <a:rPr lang="en-US" smtClean="0"/>
              <a:t>9/28/2026</a:t>
            </a:fld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Team – 08</a:t>
            </a:r>
            <a:endParaRPr/>
          </a:p>
        </p:txBody>
      </p:sp>
      <p:sp>
        <p:nvSpPr>
          <p:cNvPr id="108" name="Google Shape;108;p6"/>
          <p:cNvSpPr txBox="1"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367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 dirty="0"/>
          </a:p>
        </p:txBody>
      </p:sp>
      <p:sp>
        <p:nvSpPr>
          <p:cNvPr id="109" name="TextBox 108"/>
          <p:cNvSpPr txBox="1"/>
          <p:nvPr/>
        </p:nvSpPr>
        <p:spPr>
          <a:xfrm>
            <a:off x="612648" y="310896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0" i="0">
                <a:solidFill>
                  <a:srgbClr val="595959"/>
                </a:solidFill>
                <a:latin typeface="Times New Roman"/>
              </a:rPr>
              <a:t>Questions?</a:t>
            </a:r>
          </a:p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991245"/>
                </a:solidFill>
                <a:latin typeface="Times New Roman"/>
              </a:rPr>
              <a:t>Team 08 · Uncertainty-Aware Active Vision for UAV-Based Infrastructure Inspection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3036</Words>
  <Application>Microsoft Office PowerPoint</Application>
  <PresentationFormat>Widescreen</PresentationFormat>
  <Paragraphs>453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Office Theme</vt:lpstr>
      <vt:lpstr>22AIE401 Reinforcement Learning</vt:lpstr>
      <vt:lpstr>Problem Statement</vt:lpstr>
      <vt:lpstr>Why Reinforcement Learning?</vt:lpstr>
      <vt:lpstr>RL vs Other Approaches</vt:lpstr>
      <vt:lpstr>Agent–Environment Model</vt:lpstr>
      <vt:lpstr>System Architecture</vt:lpstr>
      <vt:lpstr>State Space</vt:lpstr>
      <vt:lpstr>Action Space</vt:lpstr>
      <vt:lpstr>Reward Function</vt:lpstr>
      <vt:lpstr>Algorithm Selection</vt:lpstr>
      <vt:lpstr>Core Equations Used in the Implementation</vt:lpstr>
      <vt:lpstr>Implementation</vt:lpstr>
      <vt:lpstr>Demo: One State → Action → Reward → Next-State Cycle</vt:lpstr>
      <vt:lpstr>Results: Agent A (DQN) vs Raster Baselines</vt:lpstr>
      <vt:lpstr>Analysis</vt:lpstr>
      <vt:lpstr>Limitations and Future Work</vt:lpstr>
      <vt:lpstr>Conclusion</vt:lpstr>
      <vt:lpstr>Thank you 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Azam Sayeed</dc:creator>
  <cp:lastModifiedBy>NUNNA LEEKHITH SRI KRISHNA-[BL.EN.U4AIE23060]</cp:lastModifiedBy>
  <cp:revision>6</cp:revision>
  <dcterms:created xsi:type="dcterms:W3CDTF">2025-10-05T08:33:38Z</dcterms:created>
  <dcterms:modified xsi:type="dcterms:W3CDTF">2026-09-28T08:22:55Z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for Microsoft 365</vt:lpwstr>
  </property>
</Properties>
</file>